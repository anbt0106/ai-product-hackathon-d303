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520cd7e2c04a50" /><Relationship Type="http://schemas.openxmlformats.org/officeDocument/2006/relationships/extended-properties" Target="/docProps/app.xml" Id="Rc66182dd72814c71" /><Relationship Type="http://schemas.openxmlformats.org/officeDocument/2006/relationships/officeDocument" Target="/ppt/presentation.xml" Id="R51c0822f5b8444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4e6e6fdbfa4dfc"/>
  </p:sldMasterIdLst>
  <p:notesMasterIdLst>
    <p:notesMasterId xmlns:r="http://schemas.openxmlformats.org/officeDocument/2006/relationships" r:id="R798189b93a6a410e"/>
  </p:notesMasterIdLst>
  <p:sldIdLst>
    <p:sldId xmlns:r="http://schemas.openxmlformats.org/officeDocument/2006/relationships" id="256" r:id="R35e58499e1284fe2"/>
    <p:sldId xmlns:r="http://schemas.openxmlformats.org/officeDocument/2006/relationships" id="257" r:id="Rfe165fbd50d343e6"/>
    <p:sldId xmlns:r="http://schemas.openxmlformats.org/officeDocument/2006/relationships" id="258" r:id="R794e8daf135c4e8d"/>
    <p:sldId xmlns:r="http://schemas.openxmlformats.org/officeDocument/2006/relationships" id="259" r:id="Rdde7e4cd66994b34"/>
    <p:sldId xmlns:r="http://schemas.openxmlformats.org/officeDocument/2006/relationships" id="260" r:id="R809c498bfa9f410d"/>
    <p:sldId xmlns:r="http://schemas.openxmlformats.org/officeDocument/2006/relationships" id="261" r:id="Rb5866684fb9c4a8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7a79b659e14d83" /><Relationship Type="http://schemas.openxmlformats.org/officeDocument/2006/relationships/slideMaster" Target="/ppt/slideMasters/slideMaster1.xml" Id="Rd94e6e6fdbfa4dfc" /><Relationship Type="http://schemas.openxmlformats.org/officeDocument/2006/relationships/notesMaster" Target="/ppt/notesMasters/notesMaster1.xml" Id="R798189b93a6a410e" /><Relationship Type="http://schemas.openxmlformats.org/officeDocument/2006/relationships/presProps" Target="/ppt/presProps.xml" Id="Rffb7eb35681a421a" /><Relationship Type="http://schemas.openxmlformats.org/officeDocument/2006/relationships/tableStyles" Target="/ppt/tableStyles.xml" Id="Rbedb871448c9432d" /><Relationship Type="http://schemas.openxmlformats.org/officeDocument/2006/relationships/slide" Target="/ppt/slides/slide1.xml" Id="R35e58499e1284fe2" /><Relationship Type="http://schemas.openxmlformats.org/officeDocument/2006/relationships/slide" Target="/ppt/slides/slide2.xml" Id="Rfe165fbd50d343e6" /><Relationship Type="http://schemas.openxmlformats.org/officeDocument/2006/relationships/slide" Target="/ppt/slides/slide3.xml" Id="R794e8daf135c4e8d" /><Relationship Type="http://schemas.openxmlformats.org/officeDocument/2006/relationships/slide" Target="/ppt/slides/slide4.xml" Id="Rdde7e4cd66994b34" /><Relationship Type="http://schemas.openxmlformats.org/officeDocument/2006/relationships/slide" Target="/ppt/slides/slide5.xml" Id="R809c498bfa9f410d" /><Relationship Type="http://schemas.openxmlformats.org/officeDocument/2006/relationships/slide" Target="/ppt/slides/slide6.xml" Id="Rb5866684fb9c4a8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70f914523045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8d5b8c2a994afe" /><Relationship Type="http://schemas.openxmlformats.org/officeDocument/2006/relationships/notesMaster" Target="/ppt/notesMasters/notesMaster1.xml" Id="Rb21d6c09cee344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f58e85bf9d4bfe" /><Relationship Type="http://schemas.openxmlformats.org/officeDocument/2006/relationships/notesMaster" Target="/ppt/notesMasters/notesMaster1.xml" Id="Rc96a716a701546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83cf5ca1864444" /><Relationship Type="http://schemas.openxmlformats.org/officeDocument/2006/relationships/notesMaster" Target="/ppt/notesMasters/notesMaster1.xml" Id="Rb18c2194c9e34e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cc422e5e343b4" /><Relationship Type="http://schemas.openxmlformats.org/officeDocument/2006/relationships/notesMaster" Target="/ppt/notesMasters/notesMaster1.xml" Id="R1bc43d298c704c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73feeda93c451d" /><Relationship Type="http://schemas.openxmlformats.org/officeDocument/2006/relationships/notesMaster" Target="/ppt/notesMasters/notesMaster1.xml" Id="Rc63e795a617442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437cedc4be46c0" /><Relationship Type="http://schemas.openxmlformats.org/officeDocument/2006/relationships/notesMaster" Target="/ppt/notesMasters/notesMaster1.xml" Id="R4d54a0bac25241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 đang học từ slide/PDF, gặp đoạn khó và hỏi Tutor.</a:t>
            </a:r>
          </a:p>
          <a:p xmlns:a="http://schemas.openxmlformats.org/drawingml/2006/main">
            <a:r>
              <a:t>Pain đo được: 573/1.252 lượt có selected page không có citation; Tutor chỉ hỏi kiểm tra hiểu 3/1.261 lượt.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§1</a:t>
            </a:r>
          </a:p>
          <a:p xmlns:a="http://schemas.openxmlformats.org/drawingml/2006/main">
            <a:r>
              <a:t>- evidence/mining-report.md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Nói ba phương án đã cân nhắc: chỉ sửa citation, sinh quiz mọi trang, và Gate + teach-back.</a:t>
            </a:r>
          </a:p>
          <a:p xmlns:a="http://schemas.openxmlformats.org/drawingml/2006/main">
            <a:r>
              <a:t>Lý do chọn: chỉ Gate + teach-back xử lý cả hai pain đã đo, là kiểm nguồn trước và kiểm hiểu sau.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trực tiếp tại slide này: chạy một happy path ra understood, sau đó chạy một hard case ra misconception.</a:t>
            </a:r>
          </a:p>
          <a:p xmlns:a="http://schemas.openxmlformats.org/drawingml/2006/main">
            <a:r>
              <a:t>Chỉ rõ badge live và trace có model, latency, input/output. Cost-of-error: misconception không được thành understood.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§4</a:t>
            </a:r>
          </a:p>
          <a:p xmlns:a="http://schemas.openxmlformats.org/drawingml/2006/main">
            <a:r>
              <a:t>- spec.md §6</a:t>
            </a:r>
          </a:p>
          <a:p xmlns:a="http://schemas.openxmlformats.org/drawingml/2006/main">
            <a:r>
              <a:t>- codebase/server.mjs</a:t>
            </a:r>
          </a:p>
          <a:p xmlns:a="http://schemas.openxmlformats.org/drawingml/2006/main">
            <a:r>
              <a:t>- eval/traces/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Quality bar đã chốt trước: ≥85% tổng case đạt và không vi phạm bất biến cứng.</a:t>
            </a:r>
          </a:p>
          <a:p xmlns:a="http://schemas.openxmlformats.org/drawingml/2006/main">
            <a:r>
              <a:t>Lượt live trước đạt 17/24 = 70,8%; lượt chính thức cuối đạt 24/24. Giữ failure để chứng minh quá trình sửa.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spec.md §7</a:t>
            </a:r>
          </a:p>
          <a:p xmlns:a="http://schemas.openxmlformats.org/drawingml/2006/main">
            <a:r>
              <a:t>- eval/results/</a:t>
            </a:r>
          </a:p>
          <a:p xmlns:a="http://schemas.openxmlformats.org/drawingml/2006/main">
            <a:r>
              <a:t>- eval/traces/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CP5 có 5 người ngoài nhóm thử prototype: 4/5 tự hoàn thành, 5/5 tin hoặc khá tin, 5/5 nói sẽ dùng thật.</a:t>
            </a:r>
          </a:p>
          <a:p xmlns:a="http://schemas.openxmlformats.org/drawingml/2006/main">
            <a:r>
              <a:t>Quote quan trọng không phải lời khen: Huy chưa rõ partial/misconception; Lan tưởng flow kết thúc sau Tutor.</a:t>
            </a:r>
          </a:p>
          <a:p xmlns:a="http://schemas.openxmlformats.org/drawingml/2006/main">
            <a:r>
              <a:t>Nhóm đã sửa CTA và phần giải nghĩa verdict; không tự động bật Micro-Check vì muốn giữ quyền chủ động của người học.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validation/feedback-log.md</a:t>
            </a:r>
          </a:p>
          <a:p xmlns:a="http://schemas.openxmlformats.org/drawingml/2006/main">
            <a:r>
              <a:t>- validation/summary.md</a:t>
            </a:r>
          </a:p>
          <a:p xmlns:a="http://schemas.openxmlformats.org/drawingml/2006/main">
            <a:r>
              <a:t>- spec.md §9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Chỉ nói 2-3 ưu tiên, không đọc roadmap dài.</a:t>
            </a:r>
          </a:p>
          <a:p xmlns:a="http://schemas.openxmlformats.org/drawingml/2006/main">
            <a:r>
              <a:t>Ba ưu tiên đều trỏ về feedback hoặc failure chưa xử hết: mastery dài, state khó phân biệt, cần rerun validation.</a:t>
            </a:r>
          </a:p>
          <a:p xmlns:a="http://schemas.openxmlformats.org/drawingml/2006/main">
            <a:r>
              <a:t>Bài học: AI trong học tập phải giúp người học biết khi nào nên tin và khi nào cần kiểm lại.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validation/summary.md</a:t>
            </a:r>
          </a:p>
          <a:p xmlns:a="http://schemas.openxmlformats.org/drawingml/2006/main">
            <a:r>
              <a:t>- validation/dry-run.md</a:t>
            </a:r>
          </a:p>
          <a:p xmlns:a="http://schemas.openxmlformats.org/drawingml/2006/main">
            <a:r>
              <a:t>- spec.md §7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0db53f2cf4c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470991a77a4662" /><Relationship Type="http://schemas.openxmlformats.org/officeDocument/2006/relationships/slideLayout" Target="/ppt/slideLayouts/slideLayout1.xml" Id="Rf7b1050c4d3546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b1050c4d3546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105e8dbf6493c" /><Relationship Type="http://schemas.openxmlformats.org/officeDocument/2006/relationships/notesSlide" Target="/ppt/notesSlides/notesSlide1.xml" Id="R97abf547fae64d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62a07a20f4b75" /><Relationship Type="http://schemas.openxmlformats.org/officeDocument/2006/relationships/notesSlide" Target="/ppt/notesSlides/notesSlide2.xml" Id="Rae17a4e0c6a44e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983d45df64571" /><Relationship Type="http://schemas.openxmlformats.org/officeDocument/2006/relationships/notesSlide" Target="/ppt/notesSlides/notesSlide3.xml" Id="R123a55a3a0604e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1deed5edd54962" /><Relationship Type="http://schemas.openxmlformats.org/officeDocument/2006/relationships/notesSlide" Target="/ppt/notesSlides/notesSlide4.xml" Id="R468ad8acba5c40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c80ab7f404bc3" /><Relationship Type="http://schemas.openxmlformats.org/officeDocument/2006/relationships/notesSlide" Target="/ppt/notesSlides/notesSlide5.xml" Id="Re67c3769828140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dd150cbe44f4f" /><Relationship Type="http://schemas.openxmlformats.org/officeDocument/2006/relationships/notesSlide" Target="/ppt/notesSlides/notesSlide6.xml" Id="R8a07d01ed82c45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D2AA2-5564-480D-8BCC-A3A0F3DB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5621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512FB-B9E1-4E7C-A29D-DE9C5CF4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37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CP5 · FINAL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8436-5E6E-481A-9326-7A98453C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657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Học viên không chỉ cần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một câu trả lời.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0F1AC-035B-423E-8D5F-B3A73C3F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6143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9F4ED"/>
                </a:solidFill>
              </a:defRPr>
            </a:pPr>
            <a:r>
              <a:rPr sz="1800" b="0">
                <a:solidFill>
                  <a:srgbClr val="B9F4ED"/>
                </a:solidFill>
              </a:rPr>
              <a:t>Họ cần biết câu trả lời có đúng nguồn — và mình đã hiểu thật chưa.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35EFE-EF62-45FB-82F2-4C1954E2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19150"/>
            <a:ext cx="3943350" cy="4552950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69BE8-4BB4-41EB-A456-FAE31282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14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PAIN TRONG CHATLOG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DBE56-40ED-4ECD-85D4-364ABE93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0B1628"/>
                </a:solidFill>
              </a:defRPr>
            </a:pPr>
            <a:r>
              <a:rPr sz="5250" b="1">
                <a:solidFill>
                  <a:srgbClr val="0B1628"/>
                </a:solidFill>
              </a:rPr>
              <a:t>573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DEA599-61ED-451A-92EF-5E026572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/ 1.252 lượt có selected page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không có citation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D7B91-46FD-4ACE-9BC1-411C774C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99DE9-5937-4764-8D17-8EBC6203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90900"/>
            <a:ext cx="1619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9B5E"/>
                </a:solidFill>
              </a:defRPr>
            </a:pPr>
            <a:r>
              <a:rPr sz="3750" b="1">
                <a:solidFill>
                  <a:srgbClr val="FF9B5E"/>
                </a:solidFill>
              </a:rPr>
              <a:t>45,8%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C66D2-D3A6-4C5A-BAE8-A24CFC07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467100"/>
            <a:ext cx="15049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lượt học thiếu căn cứ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để tự kiểm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F5B33-1C24-411D-8ED9-F04158D3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143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F4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97645-50A1-4A89-88B2-C5C84E58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529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chỉ 3 / 1.261 lượt có bước kiểm tra hiểu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69030-4C25-4521-B134-9E5F0E4D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JOB TO BE DONE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F4B2D5-30FE-4DDB-95C6-7B51A674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619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Sau một giải thích khó, kiểm tra nhanh mình hiểu đúng để sửa lỗ hổng trước khi học tiếp.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3401F1-43E0-44D1-B254-513ADB1B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2A5BE"/>
                </a:solidFill>
              </a:defRPr>
            </a:pPr>
            <a:r>
              <a:rPr sz="900" b="0">
                <a:solidFill>
                  <a:srgbClr val="92A5BE"/>
                </a:solidFill>
              </a:rPr>
              <a:t>D303 · VLearn</a:t>
            </a:r>
          </a:p>
        </p:txBody>
      </p:sp>
    </p:spTree>
    <p:extLst>
      <p:ext uri="{BB962C8B-B14F-4D97-AF65-F5344CB8AC3E}">
        <p14:creationId xmlns:p14="http://schemas.microsoft.com/office/powerpoint/2010/main" val="1718615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2C4AB1-4723-4415-9691-17D51974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0D421-DBBD-40E5-888C-424DE908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B63F9-9992-49BA-8C60-57E90F5F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QUYẾT ĐỊNH SẢN PHẨM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59CF10-C518-406A-8FC9-C84639D2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Ba hướng — chỉ một hướng khép kín pain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A5E51-E7CB-4CB5-AC3D-DA745588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Ưu tiên impact trong 1,5 ngày, không chạy theo phạm vi.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DFCCA-DD43-4A77-ABAF-75656AAA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EE17C-AC9C-41E8-9BF1-57D5F0B3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07352-DE53-4B9B-8641-842E4C7F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GIẢI NỬA PAIN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89A16-F229-4580-BB91-D68FC0BF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1628"/>
                </a:solidFill>
              </a:defRPr>
            </a:pPr>
            <a:r>
              <a:rPr sz="1950" b="1">
                <a:solidFill>
                  <a:srgbClr val="0B1628"/>
                </a:solidFill>
              </a:rPr>
              <a:t>Citation-only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63ED4-243D-457D-9460-45071FAA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64748B"/>
                </a:solidFill>
              </a:defRPr>
            </a:pPr>
            <a:r>
              <a:rPr sz="3300" b="1">
                <a:solidFill>
                  <a:srgbClr val="64748B"/>
                </a:solidFill>
              </a:rPr>
              <a:t>573 lượt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0E360-19AA-472F-B9DF-4F349B5E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Kiểm được nguồn,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chưa biết đã hiểu.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9A715-95D7-4EE1-836F-4E13023C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0269C-7EB6-4ECB-9E65-C51A101A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63372-F033-4AA0-AC65-C7886FCE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SCOPE QUÁ RỘNG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AE39EB-7454-4513-9083-B3AB974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1628"/>
                </a:solidFill>
              </a:defRPr>
            </a:pPr>
            <a:r>
              <a:rPr sz="1950" b="1">
                <a:solidFill>
                  <a:srgbClr val="0B1628"/>
                </a:solidFill>
              </a:rPr>
              <a:t>Quiz mọi trang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AB96F-89B8-4566-BFD3-DE25CB8D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9B5E"/>
                </a:solidFill>
              </a:defRPr>
            </a:pPr>
            <a:r>
              <a:rPr sz="3300" b="1">
                <a:solidFill>
                  <a:srgbClr val="FF9B5E"/>
                </a:solidFill>
              </a:rPr>
              <a:t>Mọi lượt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6BDCE-2D5A-40CA-A623-719AA058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Phủ rộng nhưng khó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kiểm lỗi và chi phí.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737DB-036F-4B32-984D-BA3EB012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162300" cy="34480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9525">
            <a:solidFill>
              <a:srgbClr val="0B162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3FEF8F-0B62-40CD-855A-F9927225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15049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4A48C-3B12-4241-848A-D44098A8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09825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CHỌN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FC06C-D544-4EB3-965D-B6413547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14650"/>
            <a:ext cx="262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Gate + teach-back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760677-25FD-4DF3-ABA7-79233D56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2628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3D6C5"/>
                </a:solidFill>
              </a:defRPr>
            </a:pPr>
            <a:r>
              <a:rPr sz="3300" b="1">
                <a:solidFill>
                  <a:srgbClr val="33D6C5"/>
                </a:solidFill>
              </a:rPr>
              <a:t>1.252 lượt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5A20F6-88EC-4530-86ED-8C2F7737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2628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F4ED"/>
                </a:solidFill>
              </a:defRPr>
            </a:pPr>
            <a:r>
              <a:rPr sz="1575" b="0">
                <a:solidFill>
                  <a:srgbClr val="B9F4ED"/>
                </a:solidFill>
              </a:rPr>
              <a:t>Đúng nguồn → kiểm hiểu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B9F4ED"/>
                </a:solidFill>
              </a:defRPr>
            </a:pPr>
            <a:r>
              <a:rPr sz="1575" b="0">
                <a:solidFill>
                  <a:srgbClr val="B9F4ED"/>
                </a:solidFill>
              </a:rPr>
              <a:t>→ củng cố 60 giây.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FACCCD-F25C-4D46-836E-EEE11D1A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272373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4AB212-0CF2-4824-9194-23342E82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5DBE0-7BF1-4D9A-878D-1EDCFE23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152D2-6864-49B7-8ADD-886DFE4F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GIẢI PHÁP &amp; DEMO 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132F4-1938-4FDE-B0D1-F23EC72F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Một lát cắt 60 giây: hỏi Tutor → kiểm nguồn → kiểm hiểu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1F761-B891-416B-9350-489E0121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Tutor, Micro-Check và Classifier đều gọi Gemini live · model gemini-3.5-flash-lite.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979BA-E9A2-4B6A-B041-A0858AA1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A8B60-8A66-445D-B704-01E6E9E1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083E3D-AF37-4FD5-A723-6844F704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E19DA-AF54-4A34-B1A0-3E755E87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563EC6-D47F-4F0D-967E-3539C835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Nguồn pass / review / block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D10BD4-D4E9-4B4F-A977-A53EE822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31F41-0096-4FA8-AA90-5D5F4BCB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FDD0CD-E07C-455D-913D-A8653E9C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84F08-5F32-41C1-B8AB-4FD8939D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45DCC-EA92-427B-80B3-29F50598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Teach-back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73FC16-D806-4BE2-A2A4-31C140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AI sinh câu hỏi từ đúng trang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6D28A-7FB3-4BB7-8922-CC71C993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D7DEA-FD3B-4167-A343-31950A51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9525">
            <a:solidFill>
              <a:srgbClr val="0B162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21621D-2B1B-4966-B6E0-8DF3F572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104FA7-76BC-4A68-A821-590BC7E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EEF4A9-9C5B-48C0-843C-0AD8FE22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AI phân loại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C166D-AEED-4E14-97A9-1EDCB21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F4ED"/>
                </a:solidFill>
              </a:defRPr>
            </a:pPr>
            <a:r>
              <a:rPr sz="1275" b="0">
                <a:solidFill>
                  <a:srgbClr val="B9F4ED"/>
                </a:solidFill>
              </a:rPr>
              <a:t>understood / partial / misconception / insufficient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2DD782-D1EA-4E6C-BA0A-B61D3A36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361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4748B"/>
                </a:solidFill>
              </a:defRPr>
            </a:pPr>
            <a:r>
              <a:rPr sz="21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927736-B002-4F16-B10A-E1B9FC24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71700"/>
            <a:ext cx="2381250" cy="1619250"/>
          </a:xfrm>
          <a:prstGeom xmlns:a="http://schemas.openxmlformats.org/drawingml/2006/main" prst="roundRect">
            <a:avLst>
              <a:gd name="adj" fmla="val 9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8C17CE-44AD-4483-9984-8AE4EF1B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495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4036C6-3DC4-4970-924B-D3DFB81C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71725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178EC1-A146-47AB-9631-CF5EF98C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628"/>
                </a:solidFill>
              </a:defRPr>
            </a:pPr>
            <a:r>
              <a:rPr sz="1800" b="1">
                <a:solidFill>
                  <a:srgbClr val="0B1628"/>
                </a:solidFill>
              </a:rPr>
              <a:t>Củng cố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6ADA5D-AFEF-4FF0-ADA6-44508269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Gợi ý sửa có nguồn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4DE350-2DB2-4F47-BF67-22982215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257800" cy="1847850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085B70-79DE-4CF7-92F5-9699C60E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3144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EAA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4F8EE5-AA1A-4AB2-93C5-D31C42CB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529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LIVE · NORMAL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3B3A37-F909-49E4-B692-FBDC369F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1628"/>
                </a:solidFill>
              </a:defRPr>
            </a:pPr>
            <a:r>
              <a:rPr sz="1575" b="1">
                <a:solidFill>
                  <a:srgbClr val="0B1628"/>
                </a:solidFill>
              </a:rPr>
              <a:t>Case chuẩn: giải thích đúng self-attention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64DCD7-8351-458D-8250-F25B7B83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4648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EAA72"/>
                </a:solidFill>
              </a:defRPr>
            </a:pPr>
            <a:r>
              <a:rPr sz="1350" b="1">
                <a:solidFill>
                  <a:srgbClr val="1EAA72"/>
                </a:solidFill>
              </a:rPr>
              <a:t>Kỳ vọng: understood → tiếp tục học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487BF7-C72C-4FD8-99E3-463EA7B4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5257800" cy="1847850"/>
          </a:xfrm>
          <a:prstGeom xmlns:a="http://schemas.openxmlformats.org/drawingml/2006/main" prst="roundRect">
            <a:avLst>
              <a:gd name="adj" fmla="val 8247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40A082-6D40-416F-AF7B-63124EFA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524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B82EC4-0D5D-4FDB-93AC-D12447E2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529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LIVE · HARD CASE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DD9869-82C5-4A37-ABC6-53F8BA02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62500"/>
            <a:ext cx="464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Case khó: đúng thuật ngữ nhưng sai quan hệ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D7F1D6-B7FC-4364-B9DC-6C37D3A2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19700"/>
            <a:ext cx="4648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3D6C5"/>
                </a:solidFill>
              </a:defRPr>
            </a:pPr>
            <a:r>
              <a:rPr sz="1350" b="1">
                <a:solidFill>
                  <a:srgbClr val="33D6C5"/>
                </a:solidFill>
              </a:rPr>
              <a:t>Kỳ vọng: misconception · không cho understood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024330-99A3-4457-BEF1-363B1DF8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17002035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7A6AC1-BEC8-4F53-9B65-0F3E2A34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DCB3CD-1A0B-45CD-99F4-A6330E29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D12EE-11F7-4FD8-B431-F422858F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KẾT QUẢ ĐO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B700DD-6B3B-4F2F-9AF3-BBBDCA3D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Không giấu lượt fail: từ 70,8% lên 100%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3805A-3082-43C3-BF4A-15ABFF31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Chuẩn đạt chốt trước: ≥85% toàn bộ và 100% ba bất biến cứng.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5161-4551-4A83-9CC5-64A2C229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858000" cy="348615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10647-44B7-4BD6-8843-8625F0B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TỈ LỆ CASE ĐẠT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91C8E-89DE-41F3-AA9D-28B1E8C0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81400"/>
            <a:ext cx="1219200" cy="135255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93EDA-D454-43EC-84E0-F84DCECB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5277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17/24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1D8E8-0F85-432C-9FE8-91C9E6D3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Live đầu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10B5F-3034-424C-9C7E-56B90B82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28950"/>
            <a:ext cx="1219200" cy="19050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83240-C63B-49A5-9E67-EEF64379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003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85%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059943-3AD7-482F-A229-814788D6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Quality bar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1B14E-EC68-402C-AC4D-EC99E441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86050"/>
            <a:ext cx="1219200" cy="22479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03433-D1A4-45C2-A497-F0F9C1B8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57425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B1628"/>
                </a:solidFill>
              </a:defRPr>
            </a:pPr>
            <a:r>
              <a:rPr sz="1875" b="1">
                <a:solidFill>
                  <a:srgbClr val="0B1628"/>
                </a:solidFill>
              </a:rPr>
              <a:t>24/24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A0615-C4A0-48A2-B9BE-7396564A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04825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4748B"/>
                </a:solidFill>
              </a:defRPr>
            </a:pPr>
            <a:r>
              <a:rPr sz="1200" b="1">
                <a:solidFill>
                  <a:srgbClr val="64748B"/>
                </a:solidFill>
              </a:rPr>
              <a:t>Live chính thức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54CE5D-BC30-4314-B5C3-80887E2A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3581400" cy="3486150"/>
          </a:xfrm>
          <a:prstGeom xmlns:a="http://schemas.openxmlformats.org/drawingml/2006/main" prst="roundRect">
            <a:avLst>
              <a:gd name="adj" fmla="val 4372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83E03-04F3-4539-9CB4-94DEDB2A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81250"/>
            <a:ext cx="1657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FAB113-5458-42A9-B001-475407B6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907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FAILURE ĐÁNG HỌC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6FF859-C579-47DA-BD6A-7DC3E8A2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2990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Output insufficient từng bị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server từ chối.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0D1599-1000-4313-ADB6-DA101DB7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10000"/>
            <a:ext cx="28765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Sửa bằng rubric/schema: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ý đúng bắt buộc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quan hệ sai cụ thể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• state → action bất biến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0CB90F-1CBD-48F6-B639-3F14F66B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876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16 lời gọi AI thật · gemini-3.5-flash-lite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380FF-2C2B-4F2C-B9DC-6D0B338F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VLearn · Hiểu Đúng, Hiểu Thật · D303</a:t>
            </a:r>
          </a:p>
        </p:txBody>
      </p:sp>
    </p:spTree>
    <p:extLst>
      <p:ext uri="{BB962C8B-B14F-4D97-AF65-F5344CB8AC3E}">
        <p14:creationId xmlns:p14="http://schemas.microsoft.com/office/powerpoint/2010/main" val="12931820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DAFEBF-A3AD-495B-95A8-84D0262D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62EAF-6AE4-4E78-9729-0FFD846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05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64F2C-B26F-42FA-8B7B-7612CA94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USER THẬT NÓI GÌ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76EA5-B3D1-4B80-A383-B9E46A5A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83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628"/>
                </a:solidFill>
              </a:defRPr>
            </a:pPr>
            <a:r>
              <a:rPr sz="2850" b="1">
                <a:solidFill>
                  <a:srgbClr val="0B1628"/>
                </a:solidFill>
              </a:rPr>
              <a:t>5 người ngoài nhóm thử: flow có giá trị, CTA và mastery cần rõ hơn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8DF507-2BCF-4485-97B9-3D35E1F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83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4/5 tự hoàn thành · 5/5 tin/khá tin · 5/5 nói sẽ dùng thật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5C4FB-965E-4A72-A299-C8EFC296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6934200" cy="337185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41D4EE-4593-4B17-852D-DE0BAC37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7907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C330D0-884E-4B92-BBCB-AF583566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90775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VALIDATION ĐÃ ĐỦ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F5DEC-A79E-4E7E-9F64-13F7D6A4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381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B1628"/>
                </a:solidFill>
              </a:defRPr>
            </a:pPr>
            <a:r>
              <a:rPr sz="4800" b="1">
                <a:solidFill>
                  <a:srgbClr val="0B1628"/>
                </a:solidFill>
              </a:rPr>
              <a:t>5 /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748C3-6B89-4BA8-BAB4-18588EF7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64748B"/>
                </a:solidFill>
              </a:defRPr>
            </a:pPr>
            <a:r>
              <a:rPr sz="1650" b="1">
                <a:solidFill>
                  <a:srgbClr val="64748B"/>
                </a:solidFill>
              </a:rPr>
              <a:t>người ngoài nhóm đã thử prototype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34776-3E0E-4A9D-A3EF-86012CCC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6210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CD90B-0036-4690-8984-94CE2DED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64748B"/>
                </a:solidFill>
              </a:defRPr>
            </a:pPr>
            <a:r>
              <a:rPr sz="1575" b="1">
                <a:solidFill>
                  <a:srgbClr val="64748B"/>
                </a:solidFill>
              </a:rPr>
              <a:t>“Mình không rõ Partial khác Misconception ở mức nào.” — Huy, học viên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973C6-4094-4085-8759-E2B4D2FA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29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64748B"/>
                </a:solidFill>
              </a:defRPr>
            </a:pPr>
            <a:r>
              <a:rPr sz="1575" b="1">
                <a:solidFill>
                  <a:srgbClr val="64748B"/>
                </a:solidFill>
              </a:rPr>
              <a:t>“Mình tưởng cuộc hội thoại kết thúc sau khi AI trả lời.” — Lan, sinh viên năm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FE214-FF59-4343-8E7E-3CD147C6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505200" cy="3371850"/>
          </a:xfrm>
          <a:prstGeom xmlns:a="http://schemas.openxmlformats.org/drawingml/2006/main" prst="roundRect">
            <a:avLst>
              <a:gd name="adj" fmla="val 4520"/>
            </a:avLst>
          </a:prstGeom>
          <a:solidFill xmlns:a="http://schemas.openxmlformats.org/drawingml/2006/main">
            <a:srgbClr val="0B16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C14801-02D0-45D4-979F-59669029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19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6C5"/>
                </a:solidFill>
              </a:defRPr>
            </a:pPr>
            <a:r>
              <a:rPr sz="1050" b="1">
                <a:solidFill>
                  <a:srgbClr val="33D6C5"/>
                </a:solidFill>
              </a:rPr>
              <a:t>ĐÃ SỬA TỪ FEEDBACK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F2FDA-D974-4F6E-8C93-1208E6AC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527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46E33E-E520-4938-8A98-019621A5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622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42116-C3DA-41B7-AD71-C29CA8EA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241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CTA “Kiểm tra tôi” nổi bật hơn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8A1783-D772-47B8-9319-597FAE35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861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7FBA6F-14CE-4DF9-991D-DB8E0A3C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956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881C3-87F7-48AC-871F-0A60FD4A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575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Định nghĩa 4 mastery state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9CB70A-5D39-459A-BB82-29F09FF8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32CD93-2FF9-4ABC-9034-9313A03B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290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1F1B03-1D08-44BE-9C2B-C4D0A93C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90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Nhãn: Điểm cần sửa / Kết luận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B91DD-98AB-4D55-BB92-7CEE4AEE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52950"/>
            <a:ext cx="3238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B20679-FE67-49E8-AB46-71051B4F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62475"/>
            <a:ext cx="133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A66BF-D06E-497A-902A-6B91B346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Không tự bật Micro-Check: giữ quyền chủ động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659594-76A0-44E3-8E3C-458A85B2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Nguồn: validation/feedback-log.md · validation/summary.md · spec.md §9</a:t>
            </a:r>
          </a:p>
        </p:txBody>
      </p:sp>
    </p:spTree>
    <p:extLst>
      <p:ext uri="{BB962C8B-B14F-4D97-AF65-F5344CB8AC3E}">
        <p14:creationId xmlns:p14="http://schemas.microsoft.com/office/powerpoint/2010/main" val="2499838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6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C1899-F4CF-4DCD-AF9A-7A97B8E8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50CECE-AFF5-4653-B5E0-AA86A93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"/>
            <a:ext cx="647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06 /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36449-4DD8-4977-BE2B-F66DA831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Nếu có thêm 1 tuần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84AD0-E05E-49BD-8A5B-E15E0215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9F4ED"/>
                </a:solidFill>
              </a:defRPr>
            </a:pPr>
            <a:r>
              <a:rPr sz="1500" b="0">
                <a:solidFill>
                  <a:srgbClr val="B9F4ED"/>
                </a:solidFill>
              </a:rPr>
              <a:t>Dry run hiện tại: 5 phút 08 giây · cần cắt ít nhất 8 giây trước demo.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0FE93-22FD-4562-83F8-7E2A8B5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F6823-41C2-40DD-8047-3AC56A54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55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80D74-1773-4CDE-B655-7EF6FE48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09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Rút ngắn giải thích mastery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A510F-792E-42CF-8A63-1DD441D4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2890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3/5 người cần kết quả ngắn hơn và rõ hơn.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A2673-240E-4A24-A474-E8817CE4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F6C92A-151F-4FF1-A93F-2B121C5E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194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837D6-4A67-4007-BA89-51E8ADD9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Thêm tooltip/ví dụ cho 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0A4CD-BED0-4E79-8442-15E10AF8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528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Giúp phân biệt partial, misconception và insufficient.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EA7F8-B7C2-40A5-AC56-B3E90910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334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3D6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15DCF-BAC5-4229-9109-D185C9B2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B1628"/>
                </a:solidFill>
              </a:defRPr>
            </a:pPr>
            <a:r>
              <a:rPr sz="1050" b="1">
                <a:solidFill>
                  <a:srgbClr val="0B162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84E63-5E34-495D-BF71-EA1BEC7A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57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Validation vòng hai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29E455-FEB3-427B-A824-7E24C760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7680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FC0D5"/>
                </a:solidFill>
              </a:defRPr>
            </a:pPr>
            <a:r>
              <a:rPr sz="1350" b="0">
                <a:solidFill>
                  <a:srgbClr val="AFC0D5"/>
                </a:solidFill>
              </a:rPr>
              <a:t>Đo lại sau khi sửa CTA và nhãn verdict.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BF922-AEAA-4EBD-81C1-FAB157AB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133600"/>
            <a:ext cx="2438400" cy="33909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BEB4A-CF90-40F5-8A3B-E5A0DECB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BÀI HỌC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0247FD-C78E-4220-89A6-46C501E0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95600"/>
            <a:ext cx="1905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AI product tốt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không chỉ là AI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0B1628"/>
                </a:solidFill>
              </a:defRPr>
            </a:pPr>
            <a:r>
              <a:rPr sz="2250" b="1">
                <a:solidFill>
                  <a:srgbClr val="0B1628"/>
                </a:solidFill>
              </a:rPr>
              <a:t>trả lời đúng.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1A111-C6FE-4986-B9C1-10400E42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24350"/>
            <a:ext cx="1447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C2D8E1-2B41-448E-9798-BC43BD1D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7200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Mà là giúp người học biết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khi nào nên tin và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khi nào cần kiểm lại.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7366FC-88B3-4442-8A70-D7FC833F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92A5BE"/>
                </a:solidFill>
              </a:defRPr>
            </a:pPr>
            <a:r>
              <a:rPr sz="900" b="0">
                <a:solidFill>
                  <a:srgbClr val="92A5BE"/>
                </a:solidFill>
              </a:rPr>
              <a:t>VLearn · Hiểu Đúng, Hiểu Thật</a:t>
            </a:r>
          </a:p>
        </p:txBody>
      </p:sp>
    </p:spTree>
    <p:extLst>
      <p:ext uri="{BB962C8B-B14F-4D97-AF65-F5344CB8AC3E}">
        <p14:creationId xmlns:p14="http://schemas.microsoft.com/office/powerpoint/2010/main" val="18045205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2026-07-31T03:00:51.5410000Z</dcterms:created>
  <dcterms:modified xsi:type="dcterms:W3CDTF">2026-07-31T03:00:51.5410000Z</dcterms:modified>
</coreProperties>
</file>