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4daee31c046ff" /><Relationship Type="http://schemas.openxmlformats.org/officeDocument/2006/relationships/extended-properties" Target="/docProps/app.xml" Id="Re6154f2bc3bc4193" /><Relationship Type="http://schemas.openxmlformats.org/officeDocument/2006/relationships/officeDocument" Target="/ppt/presentation.xml" Id="Rc285247350a647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e2906248f448d2"/>
  </p:sldMasterIdLst>
  <p:notesMasterIdLst>
    <p:notesMasterId xmlns:r="http://schemas.openxmlformats.org/officeDocument/2006/relationships" r:id="Rddb942f496574022"/>
  </p:notesMasterIdLst>
  <p:sldIdLst>
    <p:sldId xmlns:r="http://schemas.openxmlformats.org/officeDocument/2006/relationships" id="256" r:id="R5e718e4cc9ca4187"/>
    <p:sldId xmlns:r="http://schemas.openxmlformats.org/officeDocument/2006/relationships" id="257" r:id="R49e195f4acc9459a"/>
    <p:sldId xmlns:r="http://schemas.openxmlformats.org/officeDocument/2006/relationships" id="258" r:id="R458a315965e3408e"/>
    <p:sldId xmlns:r="http://schemas.openxmlformats.org/officeDocument/2006/relationships" id="259" r:id="R2d50d66594094965"/>
    <p:sldId xmlns:r="http://schemas.openxmlformats.org/officeDocument/2006/relationships" id="260" r:id="Ra11f8ebfb5fc4816"/>
    <p:sldId xmlns:r="http://schemas.openxmlformats.org/officeDocument/2006/relationships" id="261" r:id="R9a1982e4a4664b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9ffb8a722e4daf" /><Relationship Type="http://schemas.openxmlformats.org/officeDocument/2006/relationships/slideMaster" Target="/ppt/slideMasters/slideMaster1.xml" Id="Ra1e2906248f448d2" /><Relationship Type="http://schemas.openxmlformats.org/officeDocument/2006/relationships/notesMaster" Target="/ppt/notesMasters/notesMaster1.xml" Id="Rddb942f496574022" /><Relationship Type="http://schemas.openxmlformats.org/officeDocument/2006/relationships/presProps" Target="/ppt/presProps.xml" Id="R42a0ee4f1b9b48fb" /><Relationship Type="http://schemas.openxmlformats.org/officeDocument/2006/relationships/tableStyles" Target="/ppt/tableStyles.xml" Id="R873b377a73f04c78" /><Relationship Type="http://schemas.openxmlformats.org/officeDocument/2006/relationships/slide" Target="/ppt/slides/slide1.xml" Id="R5e718e4cc9ca4187" /><Relationship Type="http://schemas.openxmlformats.org/officeDocument/2006/relationships/slide" Target="/ppt/slides/slide2.xml" Id="R49e195f4acc9459a" /><Relationship Type="http://schemas.openxmlformats.org/officeDocument/2006/relationships/slide" Target="/ppt/slides/slide3.xml" Id="R458a315965e3408e" /><Relationship Type="http://schemas.openxmlformats.org/officeDocument/2006/relationships/slide" Target="/ppt/slides/slide4.xml" Id="R2d50d66594094965" /><Relationship Type="http://schemas.openxmlformats.org/officeDocument/2006/relationships/slide" Target="/ppt/slides/slide5.xml" Id="Ra11f8ebfb5fc4816" /><Relationship Type="http://schemas.openxmlformats.org/officeDocument/2006/relationships/slide" Target="/ppt/slides/slide6.xml" Id="R9a1982e4a4664b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e96d296a2d47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ee255b1b6349f2" /><Relationship Type="http://schemas.openxmlformats.org/officeDocument/2006/relationships/notesMaster" Target="/ppt/notesMasters/notesMaster1.xml" Id="R288fdf4465c147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cc6c57cd814ff1" /><Relationship Type="http://schemas.openxmlformats.org/officeDocument/2006/relationships/notesMaster" Target="/ppt/notesMasters/notesMaster1.xml" Id="R12204f60920c49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450ed9c41a43c7" /><Relationship Type="http://schemas.openxmlformats.org/officeDocument/2006/relationships/notesMaster" Target="/ppt/notesMasters/notesMaster1.xml" Id="Ra8f9a266dca142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42c1af7d004817" /><Relationship Type="http://schemas.openxmlformats.org/officeDocument/2006/relationships/notesMaster" Target="/ppt/notesMasters/notesMaster1.xml" Id="R1b64548bb75b4e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a46293f4ce4e0c" /><Relationship Type="http://schemas.openxmlformats.org/officeDocument/2006/relationships/notesMaster" Target="/ppt/notesMasters/notesMaster1.xml" Id="R4d4f0a6a15b943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4dfe03cf9e4139" /><Relationship Type="http://schemas.openxmlformats.org/officeDocument/2006/relationships/notesMaster" Target="/ppt/notesMasters/notesMaster1.xml" Id="R34e3cb9164eb4f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bằng pain và job, chưa nói tính năng.</a:t>
            </a:r>
          </a:p>
          <a:p xmlns:a="http://schemas.openxmlformats.org/drawingml/2006/main">
            <a:r>
              <a:t>Con số 573/1.252 là bằng chứng mining; 3/1.261 cho thấy vòng kiểm tra hiểu gần như vắng mặt.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spec.md §1</a:t>
            </a:r>
          </a:p>
          <a:p xmlns:a="http://schemas.openxmlformats.org/drawingml/2006/main">
            <a:r>
              <a:t>- data/vlearn-pack/chatlog/DATA_DICTIONARY.md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ba phương án đã cân nhắc và trade-off.</a:t>
            </a:r>
          </a:p>
          <a:p xmlns:a="http://schemas.openxmlformats.org/drawingml/2006/main">
            <a:r>
              <a:t>Điểm khác biệt: Gate + teach-back nối bằng chứng nguồn và bằng chứng hiểu thành một vòng.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spec.md §2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Bấm app ở slide này: happy path rồi hard case.</a:t>
            </a:r>
          </a:p>
          <a:p xmlns:a="http://schemas.openxmlformats.org/drawingml/2006/main">
            <a:r>
              <a:t>Chỉ rõ POST /api/classify là lời gọi Gemini thật; trace cho thấy model, mode và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spec.md §4 và §6</a:t>
            </a:r>
          </a:p>
          <a:p xmlns:a="http://schemas.openxmlformats.org/drawingml/2006/main">
            <a:r>
              <a:t>- DEMO-5-PHUT.md</a:t>
            </a:r>
          </a:p>
          <a:p xmlns:a="http://schemas.openxmlformats.org/drawingml/2006/main">
            <a:r>
              <a:t>- codebase/server.mjs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rõ lượt live đầu có response hợp lệ đạt 17/24; không che failure.</a:t>
            </a:r>
          </a:p>
          <a:p xmlns:a="http://schemas.openxmlformats.org/drawingml/2006/main">
            <a:r>
              <a:t>Lượt chính thức 24/24 với 16 lời gọi AI thật; không suy rộng thành độ chính xác ngoài bộ 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spec.md §7</a:t>
            </a:r>
          </a:p>
          <a:p xmlns:a="http://schemas.openxmlformats.org/drawingml/2006/main">
            <a:r>
              <a:t>- eval/results/live-gemini-2026-07-30T07-38-48-056Z.md</a:t>
            </a:r>
          </a:p>
          <a:p xmlns:a="http://schemas.openxmlformats.org/drawingml/2006/main">
            <a:r>
              <a:t>- eval/traces/live-gemini-2026-07-30T07-38-48-056Z.json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quả thử với 5 người ngoài nhóm: 4/5 tự hoàn thành, 5/5 tin hoặc khá tin, 5/5 nói sẽ dùng thật.</a:t>
            </a:r>
          </a:p>
          <a:p xmlns:a="http://schemas.openxmlformats.org/drawingml/2006/main">
            <a:r>
              <a:t>Hai lỗi rõ nhất là nút Kiểm tra tôi chưa nổi bật và các nhãn mastery khó phân biệt.</a:t>
            </a:r>
          </a:p>
          <a:p xmlns:a="http://schemas.openxmlformats.org/drawingml/2006/main">
            <a:r>
              <a:t>Nhóm đã sửa trực tiếp hai điểm này trước demo.</a:t>
            </a:r>
          </a:p>
          <a:p xmlns:a="http://schemas.openxmlformats.org/drawingml/2006/main">
            <a:r>
              <a:t>Dry run hiện là 5 phút 08 giây, vì vậy câu trả lời CP5 là đã chạy nhưng quá giờ.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validation/feedback-log.md</a:t>
            </a:r>
          </a:p>
          <a:p xmlns:a="http://schemas.openxmlformats.org/drawingml/2006/main">
            <a:r>
              <a:t>- validation/summary.md</a:t>
            </a:r>
          </a:p>
          <a:p xmlns:a="http://schemas.openxmlformats.org/drawingml/2006/main">
            <a:r>
              <a:t>- validation/dry-run.md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Chỉ nói 2–3 ưu tiên, không đọc roadmap dài.</a:t>
            </a:r>
          </a:p>
          <a:p xmlns:a="http://schemas.openxmlformats.org/drawingml/2006/main">
            <a:r>
              <a:t>Sau validation, cập nhật mục 01 bằng theme lặp lại thật và slide 5 bằng thay đổi đã làm.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validation/summary.md</a:t>
            </a:r>
          </a:p>
          <a:p xmlns:a="http://schemas.openxmlformats.org/drawingml/2006/main">
            <a:r>
              <a:t>- spec.md §7</a:t>
            </a:r>
          </a:p>
          <a:p xmlns:a="http://schemas.openxmlformats.org/drawingml/2006/main">
            <a:r>
              <a:t>- 02-guide.md §5.1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eb4a065fd42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2d2640754d44aa" /><Relationship Type="http://schemas.openxmlformats.org/officeDocument/2006/relationships/slideLayout" Target="/ppt/slideLayouts/slideLayout1.xml" Id="Rea90a5c231ff4a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90a5c231ff4a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758ea322c47ed" /><Relationship Type="http://schemas.openxmlformats.org/officeDocument/2006/relationships/notesSlide" Target="/ppt/notesSlides/notesSlide1.xml" Id="R8d430e9cd42a47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7818d56b54047" /><Relationship Type="http://schemas.openxmlformats.org/officeDocument/2006/relationships/notesSlide" Target="/ppt/notesSlides/notesSlide2.xml" Id="R21b4c6a05d0f45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2561c565047df" /><Relationship Type="http://schemas.openxmlformats.org/officeDocument/2006/relationships/notesSlide" Target="/ppt/notesSlides/notesSlide3.xml" Id="R09341cabfd8c4b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3bcbbe2b44183" /><Relationship Type="http://schemas.openxmlformats.org/officeDocument/2006/relationships/notesSlide" Target="/ppt/notesSlides/notesSlide4.xml" Id="Rdee80cce43e646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f8e29f1ca41ee" /><Relationship Type="http://schemas.openxmlformats.org/officeDocument/2006/relationships/notesSlide" Target="/ppt/notesSlides/notesSlide5.xml" Id="R2ac5f4b79f614e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9d46b893c401c" /><Relationship Type="http://schemas.openxmlformats.org/officeDocument/2006/relationships/notesSlide" Target="/ppt/notesSlides/notesSlide6.xml" Id="Rf802ee27394743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6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D2AA2-5564-480D-8BCC-A3A0F3DB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562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512FB-B9E1-4E7C-A29D-DE9C5CF4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CP5 · FINAL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D8436-5E6E-481A-9326-7A98453C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57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Học viên không chỉ cần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một câu trả lời.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0F1AC-035B-423E-8D5F-B3A73C3F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614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B9F4ED"/>
                </a:solidFill>
              </a:defRPr>
            </a:pPr>
            <a:r>
              <a:rPr sz="1800" b="0">
                <a:solidFill>
                  <a:srgbClr val="B9F4ED"/>
                </a:solidFill>
              </a:rPr>
              <a:t>Họ cần biết câu trả lời có đúng nguồn — và mình đã hiểu thật chưa.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35EFE-EF62-45FB-82F2-4C1954E2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19150"/>
            <a:ext cx="3943350" cy="45529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69BE8-4BB4-41EB-A456-FAE31282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143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PAIN TRONG CHATLOG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DBE56-40ED-4ECD-85D4-364ABE93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B1628"/>
                </a:solidFill>
              </a:defRPr>
            </a:pPr>
            <a:r>
              <a:rPr sz="5250" b="1">
                <a:solidFill>
                  <a:srgbClr val="0B1628"/>
                </a:solidFill>
              </a:rPr>
              <a:t>573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EA599-61ED-451A-92EF-5E026572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628"/>
                </a:solidFill>
              </a:defRPr>
            </a:pPr>
            <a:r>
              <a:rPr sz="1575" b="1">
                <a:solidFill>
                  <a:srgbClr val="0B1628"/>
                </a:solidFill>
              </a:rPr>
              <a:t>/ 1.252 lượt có selected page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B1628"/>
                </a:solidFill>
              </a:defRPr>
            </a:pPr>
            <a:r>
              <a:rPr sz="1575" b="1">
                <a:solidFill>
                  <a:srgbClr val="0B1628"/>
                </a:solidFill>
              </a:rPr>
              <a:t>không có citation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D7B91-46FD-4ACE-9BC1-411C774C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99DE9-5937-4764-8D17-8EBC6203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9B5E"/>
                </a:solidFill>
              </a:defRPr>
            </a:pPr>
            <a:r>
              <a:rPr sz="3750" b="1">
                <a:solidFill>
                  <a:srgbClr val="FF9B5E"/>
                </a:solidFill>
              </a:rPr>
              <a:t>45,8%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C66D2-D3A6-4C5A-BAE8-A24CFC07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671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lượt học thiếu căn cứ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để tự kiểm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F5B33-1C24-411D-8ED9-F04158D3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43400"/>
            <a:ext cx="3143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97645-50A1-4A89-88B2-C5C84E58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52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chỉ 3 / 1.261 lượt có bước kiểm tra hiểu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69030-4C25-4521-B134-9E5F0E4D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D6C5"/>
                </a:solidFill>
              </a:defRPr>
            </a:pPr>
            <a:r>
              <a:rPr sz="1050" b="1">
                <a:solidFill>
                  <a:srgbClr val="33D6C5"/>
                </a:solidFill>
              </a:rPr>
              <a:t>JOB TO BE DONE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4B2D5-30FE-4DDB-95C6-7B51A674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Sau một giải thích khó, kiểm tra nhanh mình hiểu đúng để sửa lỗ hổng trước khi học tiếp.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401F1-43E0-44D1-B254-513ADB1B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2A5BE"/>
                </a:solidFill>
              </a:defRPr>
            </a:pPr>
            <a:r>
              <a:rPr sz="900" b="0">
                <a:solidFill>
                  <a:srgbClr val="92A5BE"/>
                </a:solidFill>
              </a:rPr>
              <a:t>D303 · VLearn</a:t>
            </a:r>
          </a:p>
        </p:txBody>
      </p:sp>
    </p:spTree>
    <p:extLst>
      <p:ext uri="{BB962C8B-B14F-4D97-AF65-F5344CB8AC3E}">
        <p14:creationId xmlns:p14="http://schemas.microsoft.com/office/powerpoint/2010/main" val="1718615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2C4AB1-4723-4415-9691-17D51974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38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0D421-DBBD-40E5-888C-424DE908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B63F9-9992-49BA-8C60-57E90F5F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QUYẾT ĐỊNH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9CF10-C518-406A-8FC9-C84639D2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3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628"/>
                </a:solidFill>
              </a:defRPr>
            </a:pPr>
            <a:r>
              <a:rPr sz="2850" b="1">
                <a:solidFill>
                  <a:srgbClr val="0B1628"/>
                </a:solidFill>
              </a:rPr>
              <a:t>Ba hướng — chỉ một hướng khép kín pain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A5E51-E7CB-4CB5-AC3D-DA745588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Ưu tiên impact trong 1,5 ngày, không chạy theo phạm vi.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DFCCA-DD43-4A77-ABAF-75656AAA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162300" cy="3448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EE17C-AC9C-41E8-9BF1-57D5F0B3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504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07352-DE53-4B9B-8641-842E4C7F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GIẢI NỬA PAIN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89A16-F229-4580-BB91-D68FC0BF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628"/>
                </a:solidFill>
              </a:defRPr>
            </a:pPr>
            <a:r>
              <a:rPr sz="1950" b="1">
                <a:solidFill>
                  <a:srgbClr val="0B1628"/>
                </a:solidFill>
              </a:rPr>
              <a:t>Citation-only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63ED4-243D-457D-9460-45071FAA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628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64748B"/>
                </a:solidFill>
              </a:defRPr>
            </a:pPr>
            <a:r>
              <a:rPr sz="3300" b="1">
                <a:solidFill>
                  <a:srgbClr val="64748B"/>
                </a:solidFill>
              </a:rPr>
              <a:t>573 lượt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0E360-19AA-472F-B9DF-4F349B5E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628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Kiểm được nguồn,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chưa biết đã hiểu.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9A715-95D7-4EE1-836F-4E13023C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33600"/>
            <a:ext cx="3162300" cy="3448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0269C-7EB6-4ECB-9E65-C51A101A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00300"/>
            <a:ext cx="1504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63372-F033-4AA0-AC65-C7886FCE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98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SCOPE QUÁ RỘNG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E39EB-7454-4513-9083-B3AB974B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628"/>
                </a:solidFill>
              </a:defRPr>
            </a:pPr>
            <a:r>
              <a:rPr sz="1950" b="1">
                <a:solidFill>
                  <a:srgbClr val="0B1628"/>
                </a:solidFill>
              </a:rPr>
              <a:t>Quiz mọi trang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AB96F-89B8-4566-BFD3-DE25CB8D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2628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9B5E"/>
                </a:solidFill>
              </a:defRPr>
            </a:pPr>
            <a:r>
              <a:rPr sz="3300" b="1">
                <a:solidFill>
                  <a:srgbClr val="FF9B5E"/>
                </a:solidFill>
              </a:rPr>
              <a:t>Mọi lượt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6BDCE-2D5A-40CA-A623-719AA058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48150"/>
            <a:ext cx="2628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Phủ rộng nhưng khó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kiểm lỗi và chi phí.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737DB-036F-4B32-984D-BA3EB012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3162300" cy="3448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B1628"/>
          </a:solidFill>
          <a:ln xmlns:a="http://schemas.openxmlformats.org/drawingml/2006/main" w="9525">
            <a:solidFill>
              <a:srgbClr val="0B16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FEF8F-0B62-40CD-855A-F9927225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1504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4A48C-3B12-4241-848A-D44098A8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98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CHỌN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FC06C-D544-4EB3-965D-B6413547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Gate + teach-back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760677-25FD-4DF3-ABA7-79233D56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628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33D6C5"/>
                </a:solidFill>
              </a:defRPr>
            </a:pPr>
            <a:r>
              <a:rPr sz="3300" b="1">
                <a:solidFill>
                  <a:srgbClr val="33D6C5"/>
                </a:solidFill>
              </a:rPr>
              <a:t>1.252 lượt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A20F6-88EC-4530-86ED-8C2F7737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2628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9F4ED"/>
                </a:solidFill>
              </a:defRPr>
            </a:pPr>
            <a:r>
              <a:rPr sz="1575" b="0">
                <a:solidFill>
                  <a:srgbClr val="B9F4ED"/>
                </a:solidFill>
              </a:rPr>
              <a:t>Đúng nguồn → kiểm hiểu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9F4ED"/>
                </a:solidFill>
              </a:defRPr>
            </a:pPr>
            <a:r>
              <a:rPr sz="1575" b="0">
                <a:solidFill>
                  <a:srgbClr val="B9F4ED"/>
                </a:solidFill>
              </a:rPr>
              <a:t>→ củng cố 60 giây.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ACCCD-F25C-4D46-836E-EEE11D1A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VLearn · Hiểu Đúng, Hiểu Thật · D303</a:t>
            </a:r>
          </a:p>
        </p:txBody>
      </p:sp>
    </p:spTree>
    <p:extLst>
      <p:ext uri="{BB962C8B-B14F-4D97-AF65-F5344CB8AC3E}">
        <p14:creationId xmlns:p14="http://schemas.microsoft.com/office/powerpoint/2010/main" val="272373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4AB212-0CF2-4824-9194-23342E82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38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5DBE0-7BF1-4D9A-878D-1EDCFE23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152D2-6864-49B7-8ADD-886DFE4F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GIẢI PHÁP + LIVE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132F4-1938-4FDE-B0D1-F23EC72F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3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628"/>
                </a:solidFill>
              </a:defRPr>
            </a:pPr>
            <a:r>
              <a:rPr sz="2850" b="1">
                <a:solidFill>
                  <a:srgbClr val="0B1628"/>
                </a:solidFill>
              </a:rPr>
              <a:t>Một lời gọi AI ở đúng quyết định trung tâm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1F761-B891-416B-9350-489E0121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Tutor và câu hỏi giữ mock; Mastery Classifier là AI thật.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979BA-E9A2-4B6A-B041-A0858AA1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381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A8B60-8A66-445D-B704-01E6E9E1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83E3D-AF37-4FD5-A723-6844F704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E19DA-AF54-4A34-B1A0-3E755E87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628"/>
                </a:solidFill>
              </a:defRPr>
            </a:pPr>
            <a:r>
              <a:rPr sz="1800" b="1">
                <a:solidFill>
                  <a:srgbClr val="0B1628"/>
                </a:solidFill>
              </a:rPr>
              <a:t>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63EC6-D47F-4F0D-967E-3539C835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Nguồn pass / review / 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10BD4-D4E9-4B4F-A977-A53EE822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31F41-0096-4FA8-AA90-5D5F4BCB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381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DD0CD-E07C-455D-913D-A8653E9C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84F08-5F32-41C1-B8AB-4FD8939D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717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45DCC-EA92-427B-80B3-29F50598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628"/>
                </a:solidFill>
              </a:defRPr>
            </a:pPr>
            <a:r>
              <a:rPr sz="1800" b="1">
                <a:solidFill>
                  <a:srgbClr val="0B1628"/>
                </a:solidFill>
              </a:rPr>
              <a:t>Teach-back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3FC16-D806-4BE2-A2A4-31C140B8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13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Học viên giải thích lại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6D28A-7FB3-4BB7-8922-CC71C993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670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D7DEA-FD3B-4167-A343-31950A51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381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628"/>
          </a:solidFill>
          <a:ln xmlns:a="http://schemas.openxmlformats.org/drawingml/2006/main" w="9525">
            <a:solidFill>
              <a:srgbClr val="0B16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1621D-2B1B-4966-B6E0-8DF3F572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04FA7-76BC-4A68-A821-590BC7E4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717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EF4A9-9C5B-48C0-843C-0AD8FE22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AI quyết định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FC166D-AEED-4E14-97A9-1EDCB21B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9F4ED"/>
                </a:solidFill>
              </a:defRPr>
            </a:pPr>
            <a:r>
              <a:rPr sz="1275" b="0">
                <a:solidFill>
                  <a:srgbClr val="B9F4ED"/>
                </a:solidFill>
              </a:rPr>
              <a:t>4 mastery states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2DD782-D1EA-4E6C-BA0A-B61D3A36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27736-B002-4F16-B10A-E1B9FC24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2381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8C17CE-44AD-4483-9984-8AE4EF1B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4036C6-3DC4-4970-924B-D3DFB81C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717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178EC1-A146-47AB-9631-CF5EF98C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0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628"/>
                </a:solidFill>
              </a:defRPr>
            </a:pPr>
            <a:r>
              <a:rPr sz="1800" b="1">
                <a:solidFill>
                  <a:srgbClr val="0B1628"/>
                </a:solidFill>
              </a:rPr>
              <a:t>Củng cố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6ADA5D-AFEF-4FF0-ADA6-44508269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Một bước có nguồn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4DE350-2DB2-4F47-BF67-22982215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2578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085B70-79DE-4CF7-92F5-9699C60E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314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A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4F8EE5-AA1A-4AB2-93C5-D31C42CB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LIVE · NORMAL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3B3A37-F909-49E4-B692-FBDC369F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628"/>
                </a:solidFill>
              </a:defRPr>
            </a:pPr>
            <a:r>
              <a:rPr sz="1575" b="1">
                <a:solidFill>
                  <a:srgbClr val="0B1628"/>
                </a:solidFill>
              </a:rPr>
              <a:t>“Mỗi token nhìn tất cả token khác…”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64DCD7-8351-458D-8250-F25B7B83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AA72"/>
                </a:solidFill>
              </a:defRPr>
            </a:pPr>
            <a:r>
              <a:rPr sz="1350" b="1">
                <a:solidFill>
                  <a:srgbClr val="1EAA72"/>
                </a:solidFill>
              </a:rPr>
              <a:t>Kỳ vọng: understood → Tiếp tục học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487BF7-C72C-4FD8-99E3-463EA7B4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52578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0B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40A082-6D40-416F-AF7B-63124EFA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524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B82EC4-0D5D-4FDB-93AC-D12447E2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529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LIVE · HARD CASE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DD9869-82C5-4A37-ABC6-53F8BA02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464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“Self-attention đọc tuần tự…”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D7F1D6-B7FC-4364-B9DC-6C37D3A2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19700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3D6C5"/>
                </a:solidFill>
              </a:defRPr>
            </a:pPr>
            <a:r>
              <a:rPr sz="1350" b="1">
                <a:solidFill>
                  <a:srgbClr val="33D6C5"/>
                </a:solidFill>
              </a:rPr>
              <a:t>Kỳ vọng: misconception — không bị thuật ngữ đánh lừa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024330-99A3-4457-BEF1-363B1DF8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VLearn · Hiểu Đúng, Hiểu Thật · D303</a:t>
            </a:r>
          </a:p>
        </p:txBody>
      </p:sp>
    </p:spTree>
    <p:extLst>
      <p:ext uri="{BB962C8B-B14F-4D97-AF65-F5344CB8AC3E}">
        <p14:creationId xmlns:p14="http://schemas.microsoft.com/office/powerpoint/2010/main" val="1700203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7A6AC1-BEC8-4F53-9B65-0F3E2A3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38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CB3CD-1A0B-45CD-99F4-A6330E29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D12EE-11F7-4FD8-B431-F422858F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KẾT QUẢ ĐO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700DD-6B3B-4F2F-9AF3-BBBDCA3D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3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628"/>
                </a:solidFill>
              </a:defRPr>
            </a:pPr>
            <a:r>
              <a:rPr sz="2850" b="1">
                <a:solidFill>
                  <a:srgbClr val="0B1628"/>
                </a:solidFill>
              </a:rPr>
              <a:t>Không giấu lượt fail: từ 70,8% lên 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3805A-3082-43C3-BF4A-15ABFF31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Chuẩn đạt chốt trước: ≥85% toàn bộ và 100% ba bất biến cứng.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55161-4551-4A83-9CC5-64A2C229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858000" cy="34861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10647-44B7-4BD6-8843-8625F0B5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TỈ LỆ CASE ĐẠT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91C8E-89DE-41F3-AA9D-28B1E8C0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219200" cy="13525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9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93EDA-D454-43EC-84E0-F84DCECB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B1628"/>
                </a:solidFill>
              </a:defRPr>
            </a:pPr>
            <a:r>
              <a:rPr sz="1875" b="1">
                <a:solidFill>
                  <a:srgbClr val="0B1628"/>
                </a:solidFill>
              </a:rPr>
              <a:t>17/24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1D8E8-0F85-432C-9FE8-91C9E6D3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Live đầu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10B5F-3034-424C-9C7E-56B90B82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28950"/>
            <a:ext cx="1219200" cy="19050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83240-C63B-49A5-9E67-EEF64379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0032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B1628"/>
                </a:solidFill>
              </a:defRPr>
            </a:pPr>
            <a:r>
              <a:rPr sz="1875" b="1">
                <a:solidFill>
                  <a:srgbClr val="0B1628"/>
                </a:solidFill>
              </a:rPr>
              <a:t>85%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59943-3AD7-482F-A229-814788D6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482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Quality bar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1B14E-EC68-402C-AC4D-EC99E441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86050"/>
            <a:ext cx="1219200" cy="22479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3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03433-D1A4-45C2-A497-F0F9C1B8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5742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B1628"/>
                </a:solidFill>
              </a:defRPr>
            </a:pPr>
            <a:r>
              <a:rPr sz="1875" b="1">
                <a:solidFill>
                  <a:srgbClr val="0B1628"/>
                </a:solidFill>
              </a:rPr>
              <a:t>24/24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A0615-C4A0-48A2-B9BE-7396564A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482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Live chính thức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4CE5D-BC30-4314-B5C3-80887E2A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3581400" cy="34861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0B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083E03-04F3-4539-9CB4-94DEDB2A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AB113-5458-42A9-B001-475407B6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907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FAILURE ĐÁNG HỌC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6FF859-C579-47DA-BD6A-7DC3E8A2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Model tự suy diễn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ý thiếu thành sai.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D1599-1000-4313-ADB6-DA101DB7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0000"/>
            <a:ext cx="2876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9F4ED"/>
                </a:solidFill>
              </a:defRPr>
            </a:pPr>
            <a:r>
              <a:rPr sz="1500" b="0">
                <a:solidFill>
                  <a:srgbClr val="B9F4ED"/>
                </a:solidFill>
              </a:rPr>
              <a:t>Sửa bằng rubric: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B9F4ED"/>
                </a:solidFill>
              </a:defRPr>
            </a:pPr>
            <a:r>
              <a:rPr sz="1500" b="0">
                <a:solidFill>
                  <a:srgbClr val="B9F4ED"/>
                </a:solidFill>
              </a:rPr>
              <a:t>• ý đúng bắt buộc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B9F4ED"/>
                </a:solidFill>
              </a:defRPr>
            </a:pPr>
            <a:r>
              <a:rPr sz="1500" b="0">
                <a:solidFill>
                  <a:srgbClr val="B9F4ED"/>
                </a:solidFill>
              </a:rPr>
              <a:t>• quan hệ sai cụ thể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B9F4ED"/>
                </a:solidFill>
              </a:defRPr>
            </a:pPr>
            <a:r>
              <a:rPr sz="1500" b="0">
                <a:solidFill>
                  <a:srgbClr val="B9F4ED"/>
                </a:solidFill>
              </a:rPr>
              <a:t>• state → action bất biến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CB90F-1CBD-48F6-B639-3F14F66B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197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D6C5"/>
                </a:solidFill>
              </a:defRPr>
            </a:pPr>
            <a:r>
              <a:rPr sz="1050" b="1">
                <a:solidFill>
                  <a:srgbClr val="33D6C5"/>
                </a:solidFill>
              </a:rPr>
              <a:t>16 lời gọi AI thật · gemini-3.5-flash-lite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380FF-2C2B-4F2C-B9DC-6D0B338F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VLearn · Hiểu Đúng, Hiểu Thật · D303</a:t>
            </a:r>
          </a:p>
        </p:txBody>
      </p:sp>
    </p:spTree>
    <p:extLst>
      <p:ext uri="{BB962C8B-B14F-4D97-AF65-F5344CB8AC3E}">
        <p14:creationId xmlns:p14="http://schemas.microsoft.com/office/powerpoint/2010/main" val="12931820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DAFEBF-A3AD-495B-95A8-84D0262D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38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62EAF-6AE4-4E78-9729-0FFD8468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05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64F2C-B26F-42FA-8B7B-7612CA94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USER THẬT NÓI GÌ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76EA5-B3D1-4B80-A383-B9E46A5A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83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628"/>
                </a:solidFill>
              </a:defRPr>
            </a:pPr>
            <a:r>
              <a:rPr sz="2850" b="1">
                <a:solidFill>
                  <a:srgbClr val="0B1628"/>
                </a:solidFill>
              </a:rPr>
              <a:t>5 người thử: flow có giá trị, hai điểm cần rõ hơn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DF507-2BCF-4485-97B9-3D35E1F7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4/5 tự hoàn thành · 5/5 tin hoặc khá tin · 5/5 nói sẽ dùng thật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5C4FB-965E-4A72-A299-C8EFC296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93420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1D4EE-4593-4B17-852D-DE0BAC37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790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330D0-884E-4B92-BBCB-AF583566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907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VALIDATION ĐÃ ĐỦ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F5DEC-A79E-4E7E-9F64-13F7D6A4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B1628"/>
                </a:solidFill>
              </a:defRPr>
            </a:pPr>
            <a:r>
              <a:rPr sz="4800" b="1">
                <a:solidFill>
                  <a:srgbClr val="0B1628"/>
                </a:solidFill>
              </a:rPr>
              <a:t>5 /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748C3-6B89-4BA8-BAB4-18588EF7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người ngoài nhóm đã thử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34776-3E0E-4A9D-A3EF-86012CCC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621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CD90B-0036-4690-8984-94CE2DED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748B"/>
                </a:solidFill>
              </a:defRPr>
            </a:pPr>
            <a:r>
              <a:rPr sz="1575" b="1">
                <a:solidFill>
                  <a:srgbClr val="64748B"/>
                </a:solidFill>
              </a:rPr>
              <a:t>“Mình không rõ Partial khác Misconception ở mức nào.” — Huy, HV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973C6-4094-4085-8759-E2B4D2FA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748B"/>
                </a:solidFill>
              </a:defRPr>
            </a:pPr>
            <a:r>
              <a:rPr sz="1575" b="1">
                <a:solidFill>
                  <a:srgbClr val="64748B"/>
                </a:solidFill>
              </a:rPr>
              <a:t>“Mình tưởng cuộc hội thoại kết thúc sau khi AI trả lời.” — Lan, SV năm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FE214-FF59-4343-8E7E-3CD147C6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350520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0B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14801-02D0-45D4-979F-59669029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D6C5"/>
                </a:solidFill>
              </a:defRPr>
            </a:pPr>
            <a:r>
              <a:rPr sz="1050" b="1">
                <a:solidFill>
                  <a:srgbClr val="33D6C5"/>
                </a:solidFill>
              </a:rPr>
              <a:t>ĐÃ SỬA TỪ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F2FDA-D974-4F6E-8C93-1208E6AC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323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6E33E-E520-4938-8A98-019621A5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6227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42116-C3DA-41B7-AD71-C29CA8EA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24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CTA “Kiểm tra tôi” nổi bật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A1783-D772-47B8-9319-597FAE35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323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7FBA6F-14CE-4DF9-991D-DB8E0A3C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9567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881C3-87F7-48AC-871F-0A60FD4A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575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Giải nghĩa 4 mastery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9CB70A-5D39-459A-BB82-29F09FF8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9550"/>
            <a:ext cx="323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32CD93-2FF9-4ABC-9034-9313A03B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2907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F1B03-1D08-44BE-9C2B-C4D0A93C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909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4/5 tự hoàn thành 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AB91DD-98AB-4D55-BB92-7CEE4AEE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323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B20679-FE67-49E8-AB46-71051B4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6247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4A66BF-D06E-497A-902A-6B91B34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5:08 · cần cắt 8 giây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659594-76A0-44E3-8E3C-458A85B2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Nguồn: validation/feedback-log.md · summary.md · dry-run.md</a:t>
            </a:r>
          </a:p>
        </p:txBody>
      </p:sp>
    </p:spTree>
    <p:extLst>
      <p:ext uri="{BB962C8B-B14F-4D97-AF65-F5344CB8AC3E}">
        <p14:creationId xmlns:p14="http://schemas.microsoft.com/office/powerpoint/2010/main" val="2499838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6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6C1899-F4CF-4DCD-AF9A-7A97B8E8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0CECE-AFF5-4653-B5E0-AA86A930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06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36449-4DD8-4977-BE2B-F66DA831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Nếu có thêm một tuần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84AD0-E05E-49BD-8A5B-E15E0215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9F4ED"/>
                </a:solidFill>
              </a:defRPr>
            </a:pPr>
            <a:r>
              <a:rPr sz="1500" b="0">
                <a:solidFill>
                  <a:srgbClr val="B9F4ED"/>
                </a:solidFill>
              </a:rPr>
              <a:t>Chỉ ưu tiên việc trỏ được về feedback hoặc failure.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0FE93-22FD-4562-83F8-7E2A8B54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33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F6823-41C2-40DD-8047-3AC56A54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80D74-1773-4CDE-B655-7EF6FE48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09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Chốt UX từ 5 user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A510F-792E-42CF-8A63-1DD441D4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D5"/>
                </a:solidFill>
              </a:defRPr>
            </a:pPr>
            <a:r>
              <a:rPr sz="1350" b="0">
                <a:solidFill>
                  <a:srgbClr val="AFC0D5"/>
                </a:solidFill>
              </a:rPr>
              <a:t>Sửa nhãn/nút hoặc căn cứ ở điểm ≥2 người mắc.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A2673-240E-4A24-A474-E8817CE4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33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6C92A-151F-4FF1-A93F-2B121C5E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837D6-4A67-4007-BA89-51E8ADD9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Stress-test ngoài 24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0A4CD-BED0-4E79-8442-15E10AF8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528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D5"/>
                </a:solidFill>
              </a:defRPr>
            </a:pPr>
            <a:r>
              <a:rPr sz="1350" b="0">
                <a:solidFill>
                  <a:srgbClr val="AFC0D5"/>
                </a:solidFill>
              </a:rPr>
              <a:t>Thêm câu cụt, typo, trộn Anh–Việt và domain mới.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EA7F8-B7C2-40A5-AC56-B3E90910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33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15DCF-BAC5-4229-9109-D185C9B2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B1628"/>
                </a:solidFill>
              </a:defRPr>
            </a:pPr>
            <a:r>
              <a:rPr sz="1050" b="1">
                <a:solidFill>
                  <a:srgbClr val="0B162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84E63-5E34-495D-BF71-EA1BEC7A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Theo dõi calibration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9E455-FEB3-427B-A824-7E24C760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768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D5"/>
                </a:solidFill>
              </a:defRPr>
            </a:pPr>
            <a:r>
              <a:rPr sz="1350" b="0">
                <a:solidFill>
                  <a:srgbClr val="AFC0D5"/>
                </a:solidFill>
              </a:rPr>
              <a:t>Đo khi nào user tin quá mức hoặc phản đối verdict.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BF922-AEAA-4EBD-81C1-FAB157AB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438400" cy="33909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BEB4A-CF90-40F5-8A3B-E5A0DECB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BÀI HỌC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247FD-C78E-4220-89A6-46C501E0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95600"/>
            <a:ext cx="190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628"/>
                </a:solidFill>
              </a:defRPr>
            </a:pPr>
            <a:r>
              <a:rPr sz="2250" b="1">
                <a:solidFill>
                  <a:srgbClr val="0B1628"/>
                </a:solidFill>
              </a:rPr>
              <a:t>AI đáng tin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0B1628"/>
                </a:solidFill>
              </a:defRPr>
            </a:pPr>
            <a:r>
              <a:rPr sz="2250" b="1">
                <a:solidFill>
                  <a:srgbClr val="0B1628"/>
                </a:solidFill>
              </a:rPr>
              <a:t>không phải AI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0B1628"/>
                </a:solidFill>
              </a:defRPr>
            </a:pPr>
            <a:r>
              <a:rPr sz="2250" b="1">
                <a:solidFill>
                  <a:srgbClr val="0B1628"/>
                </a:solidFill>
              </a:rPr>
              <a:t>luôn trả lời.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1A111-C6FE-4986-B9C1-10400E42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24350"/>
            <a:ext cx="1447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2D8E1-2B41-448E-9798-BC43BD1D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720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Mà là AI biết dừng,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cho xem căn cứ và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để người học sửa.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366FC-88B3-4442-8A70-D7FC833F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2A5BE"/>
                </a:solidFill>
              </a:defRPr>
            </a:pPr>
            <a:r>
              <a:rPr sz="900" b="0">
                <a:solidFill>
                  <a:srgbClr val="92A5BE"/>
                </a:solidFill>
              </a:rPr>
              <a:t>VLearn · Hiểu Đúng, Hiểu Thật</a:t>
            </a:r>
          </a:p>
        </p:txBody>
      </p:sp>
    </p:spTree>
    <p:extLst>
      <p:ext uri="{BB962C8B-B14F-4D97-AF65-F5344CB8AC3E}">
        <p14:creationId xmlns:p14="http://schemas.microsoft.com/office/powerpoint/2010/main" val="1804520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2026-07-30T17:23:17.3940000Z</dcterms:created>
  <dcterms:modified xsi:type="dcterms:W3CDTF">2026-07-30T17:23:17.3940000Z</dcterms:modified>
</coreProperties>
</file>